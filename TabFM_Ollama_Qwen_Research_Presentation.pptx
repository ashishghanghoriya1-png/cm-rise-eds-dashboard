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284C7"/>
                </a:solidFill>
              </a:defRPr>
            </a:pPr>
            <a:r>
              <a:t>AI-DRIVEN RESEARCH ARCHITECTURE</a:t>
            </a:r>
          </a:p>
          <a:p>
            <a:pPr>
              <a:spcBef>
                <a:spcPts val="1000"/>
              </a:spcBef>
              <a:defRPr sz="3000" b="1">
                <a:solidFill>
                  <a:srgbClr val="FFFFFF"/>
                </a:solidFill>
              </a:defRPr>
            </a:pPr>
            <a:r>
              <a:t>How TabFM &amp; Local LLMs (Ollama + Qwen) Transform Research</a:t>
            </a:r>
          </a:p>
          <a:p>
            <a:pPr>
              <a:spcBef>
                <a:spcPts val="1000"/>
              </a:spcBef>
              <a:defRPr sz="1600">
                <a:solidFill>
                  <a:srgbClr val="94A3B8"/>
                </a:solidFill>
              </a:defRPr>
            </a:pPr>
            <a:r>
              <a:t>Accelerating Quantitative Precision &amp; Qualitative Synthesis with Privacy-Compliant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AI-DRIVEN RESEARCH ARCHITECTURE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The Mixed-Methods Research Dilemma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TabFM + Ollama + Qwen Research Stack  •  Slide 2 of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192024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Quantitative Survey Missingness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Large survey datasets (KoboToolbox) often have 30–40% missing entries. Traditional mean imputation introduces bias, while standard ML requires heavy re-training.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120640" cy="192024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Qualitative Transcript Bottleneck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Reading, coding, and extracting themes from hundreds of pages of bilingual (Hindi/Hinglish) open-ended interview transcripts requires weeks of manual labor.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5120640" cy="192024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Strict Data Sovereignty Mandate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Sensitive teacher transcripts, respondent identities, and partner government data cannot be transmitted to public cloud AI APIs (ChatGPT/Claude).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840480"/>
            <a:ext cx="5120640" cy="192024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The AI Solution Need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Research teams need an integrated stack that delivers instant qualitative coding, zero-shot tabular ML, and 100% offline data privacy.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AI-DRIVEN RESEARCH ARCHITECTURE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The 3-Pillar AI Stack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TabFM + Ollama + Qwen Research Stack  •  Slide 3 of 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72865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3474720"/>
                <a:gridCol w="3230575"/>
              </a:tblGrid>
              <a:tr h="10287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AI Stack Pillar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Core Technology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Primary Research Function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Core Research Benefit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Pillar 1: Tabular 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TabFM (Google PyTorch)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Zero-shot missing value imputation &amp; counterfactual policy simulation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Eliminates missing data bias; models what-if policy scenarios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Pillar 2: Local AI Engine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Ollama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100% local, privacy-compliant AI inference engine on local hardware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Zero cloud data leakage; zero subscription costs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Pillar 3: Qualitative LLM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Qwen 2.5 / 3 (14B)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Bilingual Hindi/English transcript coding &amp; thematic extraction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Native Hinglish &amp; Devanagari fluency; processes transcripts in seconds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AI-DRIVEN RESEARCH ARCHITECTURE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Pillar 1: Why TabFM Revolutionizes Quantitative Research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TabFM + Ollama + Qwen Research Stack  •  Slide 4 of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400" b="1">
                <a:solidFill>
                  <a:srgbClr val="0F766E"/>
                </a:solidFill>
              </a:defRPr>
            </a:pPr>
            <a:r>
              <a:t>•  Zero-Shot Imputation Power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    TabFMRegressor imputes thousands of missing survey data points with zero estimation bias without requiring custom neural network re-training.</a:t>
            </a:r>
          </a:p>
          <a:p>
            <a:pPr>
              <a:spcBef>
                <a:spcPts val="1200"/>
              </a:spcBef>
              <a:defRPr sz="1400" b="1">
                <a:solidFill>
                  <a:srgbClr val="0F766E"/>
                </a:solidFill>
              </a:defRPr>
            </a:pPr>
            <a:r>
              <a:t>•  Counterfactual Policy Simulations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    TabFMClassifier models what-if policy scenarios—predicting classroom lesson plan adoption across different TPD intervention combinations.</a:t>
            </a:r>
          </a:p>
          <a:p>
            <a:pPr>
              <a:spcBef>
                <a:spcPts val="1200"/>
              </a:spcBef>
              <a:defRPr sz="1400" b="1">
                <a:solidFill>
                  <a:srgbClr val="0F766E"/>
                </a:solidFill>
              </a:defRPr>
            </a:pPr>
            <a:r>
              <a:t>•  Preserving Cross-Variable Correlations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    Effortlessly handles multi-sheet Kobo datasets with 100+ feature columns while preserving complex cross-variable survey logic.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AI-DRIVEN RESEARCH ARCHITECTURE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Pillars 2 &amp; 3: Why Ollama + Qwen Revolutionize Qualitative Research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TabFM + Ollama + Qwen Research Stack  •  Slide 5 of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400" b="1">
                <a:solidFill>
                  <a:srgbClr val="0284C7"/>
                </a:solidFill>
              </a:defRPr>
            </a:pPr>
            <a:r>
              <a:t>•  100% Local Data Sovereignty &amp; Privacy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    Zero data leaves local hardware. Guarantees 100% compliance with government data protection protocols.</a:t>
            </a:r>
          </a:p>
          <a:p>
            <a:pPr>
              <a:spcBef>
                <a:spcPts val="1000"/>
              </a:spcBef>
              <a:defRPr sz="1400" b="1">
                <a:solidFill>
                  <a:srgbClr val="0284C7"/>
                </a:solidFill>
              </a:defRPr>
            </a:pPr>
            <a:r>
              <a:t>•  Native Hindi &amp; Hinglish Linguistic Intelligence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    Qwen accurately interprets regional terminology (Shaikshik Samwaad, Margdarshika, BLO duty, MDM, APAR ID) without losing contextual nuances.</a:t>
            </a:r>
          </a:p>
          <a:p>
            <a:pPr>
              <a:spcBef>
                <a:spcPts val="1000"/>
              </a:spcBef>
              <a:defRPr sz="1400" b="1">
                <a:solidFill>
                  <a:srgbClr val="0284C7"/>
                </a:solidFill>
              </a:defRPr>
            </a:pPr>
            <a:r>
              <a:t>•  Instant Qualitative Scaling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    Transcribes and extracts thematic codes from 60+ full interview transcripts in seconds instead of weeks of manual coding.</a:t>
            </a:r>
          </a:p>
          <a:p>
            <a:pPr>
              <a:spcBef>
                <a:spcPts val="1000"/>
              </a:spcBef>
              <a:defRPr sz="1400" b="1">
                <a:solidFill>
                  <a:srgbClr val="0284C7"/>
                </a:solidFill>
              </a:defRPr>
            </a:pPr>
            <a:r>
              <a:t>•  Zero Operating Expenses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    Unlimited local execution with zero cloud API token subscriptions or recurring vendor costs.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AI-DRIVEN RESEARCH ARCHITECTURE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Real-World Case Study: CPD EDS Diagnostic in Madhya Pradesh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TabFM + Ollama + Qwen Research Stack  •  Slide 6 of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Empirical Evidence from Auditing 202 Columns Across 6 Sheets (EDS_Cleaned_Master_2July.xlsx):</a:t>
            </a:r>
          </a:p>
          <a:p>
            <a:pPr>
              <a:spcBef>
                <a:spcPts val="1000"/>
              </a:spcBef>
              <a:defRPr sz="1200" b="1">
                <a:solidFill>
                  <a:srgbClr val="0F766E"/>
                </a:solidFill>
              </a:defRPr>
            </a:pPr>
            <a:r>
              <a:t>•  Empirical Workload Proof: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    Quantified that 68.3% of teachers suffer from severe BLO election duty strain, consuming 25–35% of core working hours.</a:t>
            </a:r>
          </a:p>
          <a:p>
            <a:pPr>
              <a:spcBef>
                <a:spcPts val="1000"/>
              </a:spcBef>
              <a:defRPr sz="1200" b="1">
                <a:solidFill>
                  <a:srgbClr val="0F766E"/>
                </a:solidFill>
              </a:defRPr>
            </a:pPr>
            <a:r>
              <a:t>•  TabFM Counterfactual Proof: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    Proved via TabFM modeling that standalone digital training yields 0.0% classroom adoption, whereas integrated TPD yields 12.0%.</a:t>
            </a:r>
          </a:p>
          <a:p>
            <a:pPr>
              <a:spcBef>
                <a:spcPts val="1000"/>
              </a:spcBef>
              <a:defRPr sz="1200" b="1">
                <a:solidFill>
                  <a:srgbClr val="0F766E"/>
                </a:solidFill>
              </a:defRPr>
            </a:pPr>
            <a:r>
              <a:t>•  Authentic Qualitative Demand via Qwen: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    Extracted real teacher demands across transcripts for live CAC model teaching demonstrations in multigrade classrooms.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AI-DRIVEN RESEARCH ARCHITECTURE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Comparison Matrix: Traditional vs Cloud AI vs Local AI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TabFM + Ollama + Qwen Research Stack  •  Slide 7 of 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72865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  <a:gridCol w="2743200"/>
                <a:gridCol w="2864815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Evaluation Metric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Traditional Manual Research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Public Cloud AI (ChatGPT/Claude)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TabFM + Ollama Qwen Stack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Data Privacy &amp; Security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High (Manual)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Low (Cloud Transmission)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100% Secure &amp; Local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Turnaround Time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 – 6 Weeks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Hours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Minutes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Bilingual Hinglish Fluency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High (Human dependent)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Native High Fidelity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Quantitative Imputation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Basic (Mean/Median)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TabFM Zero-Shot ML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Ongoing Operating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High Labor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High API Token Fees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$0 (Zero Token Fees)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AI-DRIVEN RESEARCH ARCHITECTURE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Strategic Roadmap for Research Teams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TabFM + Ollama + Qwen Research Stack  •  Slide 8 of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384048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1. Ingestion Pipeline Integration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Connect Python scripts directly to survey platforms (KoboToolbox/Excel) for automated data ingestion and cleaning.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828800"/>
            <a:ext cx="3383280" cy="384048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2. Standardize Prompt Frameworks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Establish standardized qualitative coding rubrics and prompt templates for Qwen to ensure cross-study consistency.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828800"/>
            <a:ext cx="3383280" cy="384048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3. Institutionalize Local AI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Deploy Ollama on research laptops and servers to ensure all team members analyze survey data securely offline.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