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284C7"/>
                </a:solidFill>
              </a:defRPr>
            </a:pPr>
            <a:r>
              <a:t>RESEARCH FINDINGS PRESENTATION</a:t>
            </a:r>
          </a:p>
          <a:p>
            <a:pPr>
              <a:spcBef>
                <a:spcPts val="1000"/>
              </a:spcBef>
              <a:defRPr sz="3000" b="1">
                <a:solidFill>
                  <a:srgbClr val="FFFFFF"/>
                </a:solidFill>
              </a:defRPr>
            </a:pPr>
            <a:r>
              <a:t>Comprehensive Research Findings: MP Teacher CPD EDS</a:t>
            </a:r>
          </a:p>
          <a:p>
            <a:pPr>
              <a:spcBef>
                <a:spcPts val="1000"/>
              </a:spcBef>
              <a:defRPr sz="1600">
                <a:solidFill>
                  <a:srgbClr val="94A3B8"/>
                </a:solidFill>
              </a:defRPr>
            </a:pPr>
            <a:r>
              <a:t>Synthesizing Kobo Surveys, PowerBI Analytics, TabFM ML Predictions, &amp; Field Observations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KEY RESEARCH FINDINGS &amp; DIAGNOSTIC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Master Findings Dashboard: Key Empirical &amp; Qualitative Insights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MP Teacher CPD Ecosystem Diagnostic Study (CPD EDS)  •  Slide 2 of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105156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1. Non-Academic Workload Strain (68.3%)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BLO election duty, MDM supervision, SIR data collection, APAR ID, and admissions consume 25–35% of working hours, cutting into teaching 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554480"/>
            <a:ext cx="5120640" cy="105156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2. High Attendance vs. Low Transfer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93.3% attend In-Person Subject Training and 88.3% attend CLSS, but active classroom application drops to only 20–30%.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97480"/>
            <a:ext cx="5120640" cy="105156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3. PowerBI Awareness Gap &amp; Timing Window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Spontaneous digital awareness is low (38.3%), but WhatsApp prompting drives 86.7% participation. 80% prefer digital learning after school hours.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697480"/>
            <a:ext cx="5120640" cy="105156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4. The Digital Paradox &amp; Proxy Completion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66.7% paper completion masks widespread proxy course completion (using spouse phones) and near-zero content recall.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5120640" cy="105156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5. Margdarshika Cupboard Storage Deficit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91.8% received printed booklets, but materials remain stored in cupboards due to lack of ongoing CAC co-teaching.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840480"/>
            <a:ext cx="5120640" cy="105156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6. TabFM Counterfactual Simulation Proof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Standalone digital training yields 0.0% classroom adoption, whereas integrated TPD yields 12.0%.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983480"/>
            <a:ext cx="10515600" cy="105156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7. Core Teacher Demand for CAC Co-Teaching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Teachers explicitly demand CACs to shift from administrative register inspection to live model teaching demonstrations in multigrade classrooms.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KEY RESEARCH FINDINGS &amp; DIAGNOSTIC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Quantitative Profile &amp; TPD Attendance Census (N = 60)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MP Teacher CPD Ecosystem Diagnostic Study (CPD EDS)  •  Slide 3 of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100" b="0">
                <a:solidFill>
                  <a:srgbClr val="1E293B"/>
                </a:solidFill>
              </a:defRPr>
            </a:pPr>
            <a:r>
              <a:t>•  Demographic Baseline: 60 study teachers across 36 MP districts. Mean Experience = 20.9 years (range: 2–34 yrs).</a:t>
            </a:r>
          </a:p>
          <a:p>
            <a:pPr>
              <a:spcBef>
                <a:spcPts val="800"/>
              </a:spcBef>
              <a:defRPr sz="1100" b="0">
                <a:solidFill>
                  <a:srgbClr val="1E293B"/>
                </a:solidFill>
              </a:defRPr>
            </a:pPr>
            <a:r>
              <a:t>•  Period Load Strain: Mean = 4.7 periods/day. 43.3% of teachers (26/60) take a heavy load of 6 periods daily.</a:t>
            </a:r>
          </a:p>
          <a:p>
            <a:pPr>
              <a:spcBef>
                <a:spcPts val="800"/>
              </a:spcBef>
              <a:defRPr sz="1100" b="0">
                <a:solidFill>
                  <a:srgbClr val="1E293B"/>
                </a:solidFill>
              </a:defRPr>
            </a:pPr>
            <a:r>
              <a:t>•  In-Person Subject Training Attendance: 93.3% (56/60) — Highest rated format; valued for Think-Pair-Share &amp; activity methods.</a:t>
            </a:r>
          </a:p>
          <a:p>
            <a:pPr>
              <a:spcBef>
                <a:spcPts val="800"/>
              </a:spcBef>
              <a:defRPr sz="1100" b="0">
                <a:solidFill>
                  <a:srgbClr val="1E293B"/>
                </a:solidFill>
              </a:defRPr>
            </a:pPr>
            <a:r>
              <a:t>•  CLSS (Shaikshik Samwaad) Attendance: 88.3% (53/60) — Valued for cross-school peer discussions; school cascading remains informal.</a:t>
            </a:r>
          </a:p>
          <a:p>
            <a:pPr>
              <a:spcBef>
                <a:spcPts val="800"/>
              </a:spcBef>
              <a:defRPr sz="1100" b="0">
                <a:solidFill>
                  <a:srgbClr val="1E293B"/>
                </a:solidFill>
              </a:defRPr>
            </a:pPr>
            <a:r>
              <a:t>•  Digital Training Attendance (DIKSHA/iGOT): 66.7% (40/60) — High paper completion; high proxy usage and low content recall.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KEY RESEARCH FINDINGS &amp; DIAGNOSTIC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TabFM ML Counterfactual Intervention Predictions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MP Teacher CPD Ecosystem Diagnostic Study (CPD EDS)  •  Slide 4 of 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72865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5029200"/>
                <a:gridCol w="2773375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Intervention Scenario Name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TPD Policy Strategy Description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Predicted Adoption Rate (%)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Baseline Observed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Current Observed System 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16.0%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Scenario A: Full Integrated TPD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Subject Training + Digital Training + CLSS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12.0%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Scenario B: Subject Training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Standalone In-Person Subject Workshop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2.7%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Scenario C: Digital Training Only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Standalone DIKSHA / iGOT Online Modules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Scenario D: CLSS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Standalone Shaikshik Samwaad Discussions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KEY RESEARCH FINDINGS &amp; DIAGNOSTIC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Qualitative Field Insights &amp; Observer Ground Truth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MP Teacher CPD Ecosystem Diagnostic Study (CPD EDS)  •  Slide 5 of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300" b="1">
                <a:solidFill>
                  <a:srgbClr val="0F766E"/>
                </a:solidFill>
              </a:defRPr>
            </a:pPr>
            <a:r>
              <a:t>•  Headmaster (HM) Admin Burnout: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    Headmasters managing primary schools handle non-academic portal filings (MDM, SIR, admissions), leaving near-zero bandwidth for instructional leadership.</a:t>
            </a:r>
          </a:p>
          <a:p>
            <a:pPr>
              <a:spcBef>
                <a:spcPts val="1000"/>
              </a:spcBef>
              <a:defRPr sz="1300" b="1">
                <a:solidFill>
                  <a:srgbClr val="0F766E"/>
                </a:solidFill>
              </a:defRPr>
            </a:pPr>
            <a:r>
              <a:t>•  Informal CLSS Cascading: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    School-level cascading is entirely informal (tea-time chats) or non-existent in single-teacher schools due to absence of co-teachers.</a:t>
            </a:r>
          </a:p>
          <a:p>
            <a:pPr>
              <a:spcBef>
                <a:spcPts val="1000"/>
              </a:spcBef>
              <a:defRPr sz="1300" b="1">
                <a:solidFill>
                  <a:srgbClr val="0F766E"/>
                </a:solidFill>
              </a:defRPr>
            </a:pPr>
            <a:r>
              <a:t>•  Demand for CAC Co-Teaching: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    Teachers explicitly request CACs to spend 70% of visit time co-teaching and demonstrating multigrade techniques inside actual classrooms.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KEY RESEARCH FINDINGS &amp; DIAGNOSTIC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Actionable Strategic Policy Roadmap &amp; Future Measures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MP Teacher CPD Ecosystem Diagnostic Study (CPD EDS)  •  Slide 6 of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384048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1. Protect Teaching Time (0–6 Months)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Issue a strict department order capping non-academic administrative assignments. Re-allocate BLO duties to block data operators.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828800"/>
            <a:ext cx="3383280" cy="384048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2. Shift to Blended TPD (6–18 Months)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Reposition DIKSHA as a supplementary micro-library while keeping core TPD centered on interactive face-to-face workshops.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828800"/>
            <a:ext cx="3383280" cy="384048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3. CAC Co-Teaching Mandate (0–6 Months)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Re-orient Cluster Academic Coordinators (CACs) to spend 70% of visit time delivering live model demonstration lessons inside multigrade classrooms.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